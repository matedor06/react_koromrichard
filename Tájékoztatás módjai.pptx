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1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/>
          <a:srcRect l="0" t="0" r="10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173560" cy="30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3;p11" descr=""/>
          <p:cNvPicPr/>
          <p:nvPr/>
        </p:nvPicPr>
        <p:blipFill>
          <a:blip r:embed="rId2"/>
          <a:srcRect l="0" t="0" r="10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283400"/>
            <a:ext cx="5528520" cy="171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60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4044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219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045320" y="12780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045320" y="219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12783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121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045320" y="3121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045320" y="4044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15000"/>
              </a:lnSpc>
              <a:buNone/>
            </a:pPr>
            <a:r>
              <a:rPr b="1" lang="fr-FR" sz="25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66;p14" descr=""/>
          <p:cNvPicPr/>
          <p:nvPr/>
        </p:nvPicPr>
        <p:blipFill>
          <a:blip r:embed="rId2"/>
          <a:srcRect l="0" t="0" r="10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41240" cy="445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313920" y="1400040"/>
            <a:ext cx="3764520" cy="351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4;p16" descr=""/>
          <p:cNvPicPr/>
          <p:nvPr/>
        </p:nvPicPr>
        <p:blipFill>
          <a:blip r:embed="rId2"/>
          <a:srcRect l="0" t="0" r="10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95;p19" descr=""/>
          <p:cNvPicPr/>
          <p:nvPr/>
        </p:nvPicPr>
        <p:blipFill>
          <a:blip r:embed="rId2"/>
          <a:srcRect l="0" t="0" r="10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143880" cy="132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8;p19"/>
          <p:cNvSpPr/>
          <p:nvPr/>
        </p:nvSpPr>
        <p:spPr>
          <a:xfrm>
            <a:off x="228600" y="3683880"/>
            <a:ext cx="42541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, and includes icons,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Catamaran"/>
                <a:ea typeface="Catamaran"/>
                <a:hlinkClick r:id="rId4"/>
              </a:rPr>
              <a:t>Freepik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100;p20" descr=""/>
          <p:cNvPicPr/>
          <p:nvPr/>
        </p:nvPicPr>
        <p:blipFill>
          <a:blip r:embed="rId2"/>
          <a:srcRect l="0" t="0" r="10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3;p3" descr=""/>
          <p:cNvPicPr/>
          <p:nvPr/>
        </p:nvPicPr>
        <p:blipFill>
          <a:blip r:embed="rId2"/>
          <a:srcRect l="0" t="4662" r="4679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899520" y="228600"/>
            <a:ext cx="5015520" cy="106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7263360" y="3910680"/>
            <a:ext cx="1651680" cy="97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15000"/>
              </a:lnSpc>
              <a:buNone/>
            </a:pPr>
            <a:r>
              <a:rPr b="1" lang="fr-FR" sz="6000" strike="noStrike" u="none">
                <a:solidFill>
                  <a:schemeClr val="accent2"/>
                </a:solidFill>
                <a:effectLst/>
                <a:uFillTx/>
                <a:latin typeface="Rethink Sans"/>
                <a:ea typeface="Rethink Sans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02;p21" descr=""/>
          <p:cNvPicPr/>
          <p:nvPr/>
        </p:nvPicPr>
        <p:blipFill>
          <a:blip r:embed="rId2"/>
          <a:srcRect l="0" t="4662" r="4679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5576400" y="3288240"/>
            <a:ext cx="2530080" cy="52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5175720" y="1336320"/>
            <a:ext cx="3255120" cy="298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3;p8" descr=""/>
          <p:cNvPicPr/>
          <p:nvPr/>
        </p:nvPicPr>
        <p:blipFill>
          <a:blip r:embed="rId2"/>
          <a:srcRect l="0" t="4662" r="4679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36;p9" descr=""/>
          <p:cNvPicPr/>
          <p:nvPr/>
        </p:nvPicPr>
        <p:blipFill>
          <a:blip r:embed="rId2"/>
          <a:srcRect l="0" t="4662" r="4679" b="0"/>
          <a:stretch/>
        </p:blipFill>
        <p:spPr>
          <a:xfrm>
            <a:off x="0" y="-360"/>
            <a:ext cx="9143640" cy="51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524040" y="1655640"/>
            <a:ext cx="487260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8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1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2"/>
    <p:sldLayoutId id="2147483671" r:id="rId3"/>
    <p:sldLayoutId id="214748367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17176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Tájékoztatás módjai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228600" y="3467160"/>
            <a:ext cx="5171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Fogyasztói információ átadása hatékonyan és jogszerűen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51" name="Google Shape;120;p26"/>
          <p:cNvCxnSpPr/>
          <p:nvPr/>
        </p:nvCxnSpPr>
        <p:spPr>
          <a:xfrm>
            <a:off x="313560" y="3316680"/>
            <a:ext cx="42922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Bevezetés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610160" y="1400040"/>
            <a:ext cx="3676320" cy="35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fogyasztói tájékoztatás kulcsszerepet játszik a bizalom építésében és az elégedettség növelésében. A sikeres kommunikáció érdekében fontos ismerni a különböző csatornákat és az aktuális jogi követelményeket. A bemutató áttekinti az alapokat és a legfontosabb szempontokat.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4" name="Google Shape;206;p31" descr=""/>
          <p:cNvPicPr/>
          <p:nvPr/>
        </p:nvPicPr>
        <p:blipFill>
          <a:blip r:embed="rId1"/>
          <a:srcRect l="14301" t="0" r="14301" b="0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5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895560" y="228600"/>
            <a:ext cx="501948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Fogyasztói tájékoztatás alapjai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7267680" y="3914640"/>
            <a:ext cx="1647360" cy="98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accent2"/>
                </a:solidFill>
                <a:effectLst/>
                <a:uFillTx/>
                <a:latin typeface="Calibri"/>
                <a:ea typeface="Rethink Sans"/>
              </a:rPr>
              <a:t>01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ubTitle"/>
          </p:nvPr>
        </p:nvSpPr>
        <p:spPr>
          <a:xfrm>
            <a:off x="3895560" y="1447920"/>
            <a:ext cx="5019480" cy="10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tamaran"/>
              <a:ea typeface="Catamaran"/>
            </a:endParaRPr>
          </a:p>
        </p:txBody>
      </p:sp>
      <p:cxnSp>
        <p:nvCxnSpPr>
          <p:cNvPr id="59" name="Google Shape;192;p29"/>
          <p:cNvCxnSpPr/>
          <p:nvPr/>
        </p:nvCxnSpPr>
        <p:spPr>
          <a:xfrm>
            <a:off x="5100480" y="1293120"/>
            <a:ext cx="37317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Információs csatornák típusai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4610160" y="1400040"/>
            <a:ext cx="3676320" cy="35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fogyasztók tájékoztatását többféle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kommunikációs csatornán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keresztül valósíthatjuk meg, például digitális platformokon, e-mailben vagy személyes ügyfélszolgálaton. A megfelelő csatorna kiválasztása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növeli az információ hatékonyságát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és javítja az ügyfélélményt. Az elérés szempontjából fontos a célcsoport elemzése.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2" name="Google Shape;206;p31" descr=""/>
          <p:cNvPicPr/>
          <p:nvPr/>
        </p:nvPicPr>
        <p:blipFill>
          <a:blip r:embed="rId1"/>
          <a:srcRect l="14301" t="0" r="14301" b="0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38000" cy="444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Jogszabályi követelmények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429080" y="228600"/>
            <a:ext cx="4485960" cy="43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fogyasztói tájékoztatás során be kell tartani az aktuális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jogi szabályozásokat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, amelyek az átláthatóságot és a tisztességes információátadást biztosítják. Ide tartozik a termékek és szolgáltatások részletes bemutatása, a reklámok etikai normái, valamint a személyes adatok védelme. A jogkövető tájékoztatás alapja a vállalati bizalomnak és jogbiztonságnak.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66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38000" cy="444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Tájékoztatás célcsoportjai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4429080" y="228600"/>
            <a:ext cx="4485960" cy="43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fogyasztói tájékoztatás hatékonysága jelentősen függ a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megfelelő célcsoport meghatározásától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. Fontos felismerni a különböző fogyasztói szegmenseket, például életkor, érdeklődési kör vagy vásárlási szokások alapján. Az egyedi igényekhez igazított információ növeli a relevanciát és az elköteleződést, ezáltal javítva a kommunikáció sikerét.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69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895560" y="228600"/>
            <a:ext cx="501948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Tájékoztatási eszközök és módszerek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7267680" y="3914640"/>
            <a:ext cx="1647360" cy="98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accent2"/>
                </a:solidFill>
                <a:effectLst/>
                <a:uFillTx/>
                <a:latin typeface="Calibri"/>
                <a:ea typeface="Rethink Sans"/>
              </a:rPr>
              <a:t>02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ubTitle"/>
          </p:nvPr>
        </p:nvSpPr>
        <p:spPr>
          <a:xfrm>
            <a:off x="3895560" y="1447920"/>
            <a:ext cx="5019480" cy="10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buNone/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Catamaran"/>
              <a:ea typeface="Catamaran"/>
            </a:endParaRPr>
          </a:p>
        </p:txBody>
      </p:sp>
      <p:cxnSp>
        <p:nvCxnSpPr>
          <p:cNvPr id="73" name="Google Shape;192;p29"/>
          <p:cNvCxnSpPr/>
          <p:nvPr/>
        </p:nvCxnSpPr>
        <p:spPr>
          <a:xfrm>
            <a:off x="5100480" y="1293120"/>
            <a:ext cx="37317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38000" cy="444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Digitális kommunikáció eszközei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429080" y="228600"/>
            <a:ext cx="4485960" cy="43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digitális eszközök, mint a weboldalak, közösségi média és e-mail kampányok, kulcsszerepet töltenek be a modern fogyasztói tájékoztatásban. Ezek az eszközök lehetővé teszik a gyors, interaktív és személyre szabott kommunikációt, amely erősíti 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kölcsönös kapcsolatot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 és széles körű elérést biztosít.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76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Nyomtatott és hagyományos média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4610160" y="1400040"/>
            <a:ext cx="3676320" cy="35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hagyományos csatornák, például a nyomtatott brosúrák, újsághirdetések és televíziós reklámok még mindig fontosak a fogyasztói tájékoztatásban. Ezek az eszközök különösen hatékonyak olyan közönségek számára, akik kevésbé aktívak digitálisan, és hozzájárulnak a márka ismertségének fenntartásához.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9" name="Google Shape;206;p31" descr=""/>
          <p:cNvPicPr/>
          <p:nvPr/>
        </p:nvPicPr>
        <p:blipFill>
          <a:blip r:embed="rId1"/>
          <a:srcRect l="14301" t="0" r="14301" b="0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0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438000" cy="444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Kapcsolati és ügyfélszolgálati megoldások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429080" y="228600"/>
            <a:ext cx="4485960" cy="43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Az ügyfélszolgálati csatornák, mint a telefonos ügyféltámogatás, chat és személyes tanácsadás, alapvető fontosságúak a közvetlen és személyes fogyasztói tájékoztatásban. Ezek a megoldások lehetőséget teremtenek a kérdések azonnali megválaszolására és a problémák gyors kezelésére, növelve az elégedettséget.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83" name="Google Shape;199;p30"/>
          <p:cNvCxnSpPr/>
          <p:nvPr/>
        </p:nvCxnSpPr>
        <p:spPr>
          <a:xfrm>
            <a:off x="312840" y="4914720"/>
            <a:ext cx="8518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r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Következtetések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4610160" y="1400040"/>
            <a:ext cx="3676320" cy="35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A fogyasztói tájékoztatás sokszínű eszközkészlettel és jól meghatározott célcsoportokkal érhető el hatékonyan. A jogszabályi megfelelés és a kommunikációs csatornák helyes választása elengedhetetlen a hiteles, világos és ügyfélközpontú információátadáshoz. Ezek az elemek együttesen támogatják a vállalati sikerességet és a fogyasztói bizalom építését.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6" name="Google Shape;206;p31" descr=""/>
          <p:cNvPicPr/>
          <p:nvPr/>
        </p:nvPicPr>
        <p:blipFill>
          <a:blip r:embed="rId1"/>
          <a:srcRect l="14301" t="0" r="14301" b="0"/>
          <a:stretch/>
        </p:blipFill>
        <p:spPr>
          <a:xfrm>
            <a:off x="313920" y="1400040"/>
            <a:ext cx="3764880" cy="3514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7" name="Google Shape;207;p31"/>
          <p:cNvCxnSpPr/>
          <p:nvPr/>
        </p:nvCxnSpPr>
        <p:spPr>
          <a:xfrm>
            <a:off x="313560" y="957240"/>
            <a:ext cx="85186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228600" y="1733400"/>
            <a:ext cx="3142800" cy="13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Do you have any questions?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youremail@freepik.com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+00 000 000 000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Catamaran"/>
                <a:ea typeface="Catamaran"/>
              </a:rPr>
              <a:t>yourwebsite.com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336;p39"/>
          <p:cNvSpPr/>
          <p:nvPr/>
        </p:nvSpPr>
        <p:spPr>
          <a:xfrm>
            <a:off x="304920" y="4276800"/>
            <a:ext cx="3142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Google Shape;337;p39"/>
          <p:cNvSpPr/>
          <p:nvPr/>
        </p:nvSpPr>
        <p:spPr>
          <a:xfrm>
            <a:off x="336240" y="3087720"/>
            <a:ext cx="407880" cy="408240"/>
          </a:xfrm>
          <a:custGeom>
            <a:avLst/>
            <a:gdLst>
              <a:gd name="textAreaLeft" fmla="*/ 0 w 407880"/>
              <a:gd name="textAreaRight" fmla="*/ 408240 w 407880"/>
              <a:gd name="textAreaTop" fmla="*/ 0 h 408240"/>
              <a:gd name="textAreaBottom" fmla="*/ 408600 h 40824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108000" bIns="108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1" name="Google Shape;338;p39"/>
          <p:cNvGrpSpPr/>
          <p:nvPr/>
        </p:nvGrpSpPr>
        <p:grpSpPr>
          <a:xfrm>
            <a:off x="903960" y="3088080"/>
            <a:ext cx="408240" cy="407880"/>
            <a:chOff x="903960" y="3088080"/>
            <a:chExt cx="408240" cy="407880"/>
          </a:xfrm>
        </p:grpSpPr>
        <p:sp>
          <p:nvSpPr>
            <p:cNvPr id="92" name="Google Shape;339;p39"/>
            <p:cNvSpPr/>
            <p:nvPr/>
          </p:nvSpPr>
          <p:spPr>
            <a:xfrm>
              <a:off x="903960" y="3088080"/>
              <a:ext cx="408240" cy="407880"/>
            </a:xfrm>
            <a:custGeom>
              <a:avLst/>
              <a:gdLst>
                <a:gd name="textAreaLeft" fmla="*/ 0 w 408240"/>
                <a:gd name="textAreaRight" fmla="*/ 408600 w 40824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108000" bIns="10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340;p39"/>
            <p:cNvSpPr/>
            <p:nvPr/>
          </p:nvSpPr>
          <p:spPr>
            <a:xfrm>
              <a:off x="980640" y="3164760"/>
              <a:ext cx="253800" cy="25380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253800"/>
                <a:gd name="textAreaBottom" fmla="*/ 254160 h 25380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108000" bIns="10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341;p39"/>
            <p:cNvSpPr/>
            <p:nvPr/>
          </p:nvSpPr>
          <p:spPr>
            <a:xfrm>
              <a:off x="1039680" y="3225240"/>
              <a:ext cx="135360" cy="13284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66600" bIns="66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342;p39"/>
            <p:cNvSpPr/>
            <p:nvPr/>
          </p:nvSpPr>
          <p:spPr>
            <a:xfrm>
              <a:off x="1159200" y="3197520"/>
              <a:ext cx="34560" cy="3420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17280" bIns="17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6" name="Google Shape;343;p39"/>
          <p:cNvGrpSpPr/>
          <p:nvPr/>
        </p:nvGrpSpPr>
        <p:grpSpPr>
          <a:xfrm>
            <a:off x="1472400" y="3088080"/>
            <a:ext cx="408240" cy="407880"/>
            <a:chOff x="1472400" y="3088080"/>
            <a:chExt cx="408240" cy="407880"/>
          </a:xfrm>
        </p:grpSpPr>
        <p:sp>
          <p:nvSpPr>
            <p:cNvPr id="97" name="Google Shape;344;p39"/>
            <p:cNvSpPr/>
            <p:nvPr/>
          </p:nvSpPr>
          <p:spPr>
            <a:xfrm>
              <a:off x="1472400" y="3088080"/>
              <a:ext cx="408240" cy="407880"/>
            </a:xfrm>
            <a:custGeom>
              <a:avLst/>
              <a:gdLst>
                <a:gd name="textAreaLeft" fmla="*/ 0 w 408240"/>
                <a:gd name="textAreaRight" fmla="*/ 408600 w 40824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108000" bIns="10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345;p39"/>
            <p:cNvSpPr/>
            <p:nvPr/>
          </p:nvSpPr>
          <p:spPr>
            <a:xfrm>
              <a:off x="1566360" y="3251160"/>
              <a:ext cx="56160" cy="14184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346;p39"/>
            <p:cNvSpPr/>
            <p:nvPr/>
          </p:nvSpPr>
          <p:spPr>
            <a:xfrm>
              <a:off x="1557720" y="3173760"/>
              <a:ext cx="64440" cy="644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347;p39"/>
            <p:cNvSpPr/>
            <p:nvPr/>
          </p:nvSpPr>
          <p:spPr>
            <a:xfrm>
              <a:off x="1652040" y="3251160"/>
              <a:ext cx="150840" cy="14184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70920" bIns="70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228600" y="150120"/>
            <a:ext cx="3142800" cy="14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000" strike="noStrike" u="none">
                <a:solidFill>
                  <a:schemeClr val="dk1"/>
                </a:solidFill>
                <a:effectLst/>
                <a:uFillTx/>
                <a:latin typeface="Rethink Sans"/>
                <a:ea typeface="Rethink Sans"/>
              </a:rPr>
              <a:t>Thank you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Google Shape;349;p39"/>
          <p:cNvCxnSpPr/>
          <p:nvPr/>
        </p:nvCxnSpPr>
        <p:spPr>
          <a:xfrm>
            <a:off x="317160" y="1548720"/>
            <a:ext cx="27871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lectric Field Concepts by Slidesgo">
  <a:themeElements>
    <a:clrScheme name="Simple Light">
      <a:dk1>
        <a:srgbClr val="ffffff"/>
      </a:dk1>
      <a:lt1>
        <a:srgbClr val="0c0e1d"/>
      </a:lt1>
      <a:dk2>
        <a:srgbClr val="ffffff"/>
      </a:dk2>
      <a:lt2>
        <a:srgbClr val="ffffff"/>
      </a:lt2>
      <a:accent1>
        <a:srgbClr val="708cb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2025-11-05T10:51:26Z</dcterms:created>
  <dc:creator>Unknown Creator</dc:creator>
  <dc:description/>
  <dc:language>en-US</dc:language>
  <cp:lastModifiedBy>Unknown Creator</cp:lastModifiedBy>
  <dcterms:modified xsi:type="dcterms:W3CDTF">2025-11-05T10:51:26Z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